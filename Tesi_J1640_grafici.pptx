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Analisi del rumore della pulsar J1640+2224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Validazione di Discovery, iniezioni di fondo gravitazionale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e indice cromatico dello scattering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FA3BF"/>
                </a:solidFill>
                <a:latin typeface="Calibri"/>
              </a:rPr>
              <a:t>Lorenzo Caivano  ·  relatore A. Sesana, correlatrice I. Ferranti  ·  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B263B"/>
                </a:solidFill>
                <a:latin typeface="Cambria"/>
              </a:rPr>
              <a:t>Il percorso del lavoro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E86A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737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B263B"/>
                </a:solidFill>
                <a:latin typeface="Calibri"/>
              </a:rPr>
              <a:t>Validazione di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64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Dati reali DR2low: Discovery contro Enterprise, poi DR2low contro DR2new+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E86AB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146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B263B"/>
                </a:solidFill>
                <a:latin typeface="Calibri"/>
              </a:rPr>
              <a:t>Simulazioni di controllo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54203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Dati sintetici con valori veri noti: la pipeline recupera quello che inietto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E86AB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2918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B263B"/>
                </a:solidFill>
                <a:latin typeface="Calibri"/>
              </a:rPr>
              <a:t>Iniezioni di fondo gravitazionale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31927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GWB con gamma = 13/3 a tre ampiezze contro la simulazione senza GWB, stessi parametri di rumore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E86AB"/>
                </a:solidFill>
                <a:latin typeface="Cambr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0690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B263B"/>
                </a:solidFill>
                <a:latin typeface="Calibri"/>
              </a:rPr>
              <a:t>GWB ai valori EPTA e confronto con i dati reali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09651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log10 A = -14, gamma = 2.71 (EPTA DR2new, A&amp;A 678 A50 2023), poi il confronto con DR2low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46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E86AB"/>
                </a:solidFill>
                <a:latin typeface="Cambria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846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B263B"/>
                </a:solidFill>
                <a:latin typeface="Calibri"/>
              </a:rPr>
              <a:t>Indice cromatico dello scattering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87375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Dati generati con alpha = 4.4 e analizzati con alpha = 4.0, 4.4 e libero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6235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E86AB"/>
                </a:solidFill>
                <a:latin typeface="Cambria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623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B263B"/>
                </a:solidFill>
                <a:latin typeface="Calibri"/>
              </a:rPr>
              <a:t>Analisi con alpha libero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6509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Sette parametri: lo scattering porta il proprio indice cromatico. Catene in corso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2E86AB"/>
                </a:solidFill>
                <a:latin typeface="Cambria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Validazione di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8686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Dati reali DR2low: Discovery contro Enterprise, poi DR2low contro DR2new+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Posterior dei sei parametri di rumore su DR2low</a:t>
            </a:r>
          </a:p>
        </p:txBody>
      </p:sp>
      <p:pic>
        <p:nvPicPr>
          <p:cNvPr id="3" name="Picture 2" descr="corner_J1640_pret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99349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DR2low reali, J1640+2224, 6777 TOA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Discovery, 6 parametri, scattering con alpha =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Il punto di partenza: red noise, DM e scattering misurati sui dati veri.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La degenerazione a L tra i parametri di DM e scattering.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corner_J1640_pretty.png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Discovery contro Enterprise sugli stessi dati</a:t>
            </a:r>
          </a:p>
        </p:txBody>
      </p:sp>
      <p:pic>
        <p:nvPicPr>
          <p:cNvPr id="3" name="Picture 2" descr="corner_confronto_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69844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DR2low reali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Discovery contro la run Enterprise a 6 parametri, stesso ordine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Le due pipeline danno le stesse posterior.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È la validazione che giustifica tutto il resto del lavoro.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corner_confronto_NEW.png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Posterior su DR2new+</a:t>
            </a:r>
          </a:p>
        </p:txBody>
      </p:sp>
      <p:pic>
        <p:nvPicPr>
          <p:cNvPr id="3" name="Picture 2" descr="corner_DR2new_sol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517367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DR2new+ reali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Discovery, 6 parametri, componenti presi dal noisedict di DR2low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Il dataset esteso da solo, con tutti i pannelli.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corner_DR2new_solo.png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DR2low contro DR2new+</a:t>
            </a:r>
          </a:p>
        </p:txBody>
      </p:sp>
      <p:pic>
        <p:nvPicPr>
          <p:cNvPr id="3" name="Picture 2" descr="corner_DR2low_vs_DR2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73532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Entrambi i dataset reali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Discovery, 6 parametri in entrambi i casi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41985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67588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Cosa guadagna il dataset esteso: le posterior si stringono, soprattutto sul DM.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corner_DR2low_vs_DR2new.png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2E86AB"/>
                </a:solidFill>
                <a:latin typeface="Cambria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Simulazioni di controllo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8686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Dati sintetici con valori veri noti: la pipeline recupera quello che inietto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Recupero dei valori iniettati</a:t>
            </a:r>
          </a:p>
        </p:txBody>
      </p:sp>
      <p:pic>
        <p:nvPicPr>
          <p:cNvPr id="3" name="Picture 2" descr="corner_recovery_si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6229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Simulazione: red noise + DM + scattering, nessun GWB, seed key(1)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identico a quello dei dati reali, 6 parametri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96849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422452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Le linee verdi sono i valori iniettati.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Le posterior li contengono: la pipeline funziona.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corner_recovery_sim.png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Dati reali contro dati simulati</a:t>
            </a:r>
          </a:p>
        </p:txBody>
      </p:sp>
      <p:pic>
        <p:nvPicPr>
          <p:cNvPr id="3" name="Picture 2" descr="corner_reali_vs_simulat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69844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DR2low reali e simulazione senza GWB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 in entrambi i casi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41985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67588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Quanto la simulazione assomiglia ai dati veri.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Le posterior reali sono più larghe.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corner_reali_vs_simulati.png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2E86AB"/>
                </a:solidFill>
                <a:latin typeface="Cambria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Iniezioni di fondo gravitazionale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8686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GWB con gamma = 13/3 a tre ampiezze contro la simulazione senza GWB, stessi parametri di rumore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GWB a log10 A = -15.5 contro nessun GWB</a:t>
            </a:r>
          </a:p>
        </p:txBody>
      </p:sp>
      <p:pic>
        <p:nvPicPr>
          <p:cNvPr id="3" name="Picture 2" descr="corner_senza_vs_gwb_A155_v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9918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Due simulazioni: senza GWB (verde) e con GWB gamma = 13/3 (viola)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nessun termine GWB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Ampiezza più bassa della serie: le due posterior sono quasi sovrapposte.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Contorni al 68, 95 e 99.7 per cento.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corner_senza_vs_gwb_A155_v2.png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GWB a log10 A = -15.0 contro nessun GWB</a:t>
            </a:r>
          </a:p>
        </p:txBody>
      </p:sp>
      <p:pic>
        <p:nvPicPr>
          <p:cNvPr id="3" name="Picture 2" descr="corner_senza_vs_gwb_A150_v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2541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Senza GWB (verde) e con GWB gamma = 13/3 (viola)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nessun termine GWB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Il red noise comincia a irripidirsi: gamma passa da 0.21 a 0.25.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corner_senza_vs_gwb_A150_v2.png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GWB a log10 A = -14.5 contro nessun GWB</a:t>
            </a:r>
          </a:p>
        </p:txBody>
      </p:sp>
      <p:pic>
        <p:nvPicPr>
          <p:cNvPr id="3" name="Picture 2" descr="corner_senza_vs_gwb_A145_v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69844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Senza GWB (verde) e con GWB gamma = 13/3 (viola)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nessun termine GWB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Ampiezza più alta della serie: gamma del red noise sale a 0.38.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Gli altri quattro parametri non si muovono.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corner_senza_vs_gwb_A145_v2.png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Le tre ampiezze insieme</a:t>
            </a:r>
          </a:p>
        </p:txBody>
      </p:sp>
      <p:pic>
        <p:nvPicPr>
          <p:cNvPr id="3" name="Picture 2" descr="corner_gwb_tre_ampiezze_v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2541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Senza GWB (verde) e GWB a -15.5, -15.0, -14.5 (viola crescente)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nessun termine GWB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La sintesi della sezione: il red noise assorbe il GWB in modo ordinato con l’ampiezza iniettata.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corner_gwb_tre_ampiezze_v2.png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Due ampiezze a confronto</a:t>
            </a:r>
          </a:p>
        </p:txBody>
      </p:sp>
      <p:pic>
        <p:nvPicPr>
          <p:cNvPr id="3" name="Picture 2" descr="corner_sim_gwb_A145VSA1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2541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GWB -14.5 contro GWB -15.0, gamma = 13/3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nessun termine GWB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41985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67588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Come scala l’effetto tra due ampiezze vicine.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corner_sim_gwb_A145VSA150.png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Esperimento con DM e scattering scambiati</a:t>
            </a:r>
          </a:p>
        </p:txBody>
      </p:sp>
      <p:pic>
        <p:nvPicPr>
          <p:cNvPr id="3" name="Picture 2" descr="corner_sim_gwb_A145_sw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73532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Simulazione con GWB -14.5 e valori veri di DM e SV invertiti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Controllo chiesto da Irene.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I residui risultano circa 200 volte quelli reali: configurazione non fisica.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corner_sim_gwb_A145_swap.png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2E86AB"/>
                </a:solidFill>
                <a:latin typeface="Cambria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GWB ai valori EPTA e confronto con i dati reali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8686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log10 A = -14, gamma = 2.71 (EPTA DR2new, A&amp;A 678 A50 2023), poi il confronto con DR2low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GWB ai valori EPTA: log10 A = -14, gamma = 2.71</a:t>
            </a:r>
          </a:p>
        </p:txBody>
      </p:sp>
      <p:pic>
        <p:nvPicPr>
          <p:cNvPr id="3" name="Picture 2" descr="corner_sim_gwb_A140_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9918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Simulazione con GWB ai valori misurati su DR2new+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nessun termine GWB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Spettro più piatto e ampiezza più grande della serie precedente.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corner_sim_gwb_A140_g27.png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Con e senza GWB ai valori EPTA</a:t>
            </a:r>
          </a:p>
        </p:txBody>
      </p:sp>
      <p:pic>
        <p:nvPicPr>
          <p:cNvPr id="3" name="Picture 2" descr="corner_sim_confronto_gwb_A140_g27_no_gw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9918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Senza GWB contro GWB -14, gamma = 2.71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nessun termine GWB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41985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67588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L’assorbimento resta modesto: gamma del red noise va da 0.21 a 0.25.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corner_sim_confronto_gwb_A140_g27_no_gwb.png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Dati reali contro GWB a -15.0</a:t>
            </a:r>
          </a:p>
        </p:txBody>
      </p:sp>
      <p:pic>
        <p:nvPicPr>
          <p:cNvPr id="3" name="Picture 2" descr="corner_reali_vs_simGWB_A1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69844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DR2low reali e simulazione con GWB gamma = 13/3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Primo confronto con i dati veri.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Figura in stile vecchio: contorni al 39, 68, 86 e 95 per cento.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corner_reali_vs_simGWB_A150.png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Dati reali contro GWB ai valori EPTA</a:t>
            </a:r>
          </a:p>
        </p:txBody>
      </p:sp>
      <p:pic>
        <p:nvPicPr>
          <p:cNvPr id="3" name="Picture 2" descr="corner_reali_vs_simGWB_A140_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69844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DR2low reali e simulazione con GWB -14, gamma = 2.71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Il confronto più realistico: il GWB che EPTA dice di avere misurato.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corner_reali_vs_simGWB_A140_g27.png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2E86AB"/>
                </a:solidFill>
                <a:latin typeface="Cambria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Indice cromatico dello scattering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8686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Dati generati con alpha = 4.4 e analizzati con alpha = 4.0, 4.4 e libero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Scattering generato con alpha = 4.4, analizzato con alpha = 4.0</a:t>
            </a:r>
          </a:p>
        </p:txBody>
      </p:sp>
      <p:pic>
        <p:nvPicPr>
          <p:cNvPr id="3" name="Picture 2" descr="corner_sim_sv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47294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Simulazione con scattering ~ (1400/nu)^4.4, senza GWB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scattering con alpha = 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96849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422452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L’ampiezza dello scattering risulta -15.39 contro il vero -15.89: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uno spostamento di 0.44 dex, circa 6 sigma.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corner_sim_sv44.png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Effetto di un indice cromatico sbagliato</a:t>
            </a:r>
          </a:p>
        </p:txBody>
      </p:sp>
      <p:pic>
        <p:nvPicPr>
          <p:cNvPr id="3" name="Picture 2" descr="corner_sim_alpha40_vs_sv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6229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Dati con alpha = 4.0 (verde) e alpha = 4.4 (arancio), stesso 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Entrambi analizzati con alpha = 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Si muove solo l’ampiezza dello scattering.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Lo spostamento previsto è 0.4 x log10(1400/nu_eff) = 0.40 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corner_sim_alpha40_vs_sv44.png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Gli stessi dati con il modello corretto</a:t>
            </a:r>
          </a:p>
        </p:txBody>
      </p:sp>
      <p:pic>
        <p:nvPicPr>
          <p:cNvPr id="3" name="Picture 2" descr="corner_sim_sv44_alpha44_corret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69844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Simulazione con scattering alpha = 4.4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scattering con alpha = 4.4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Con l’indice giusto i parametri tornano sui valori veri.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Lo spostamento era colpa del modello, non della pipeline.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corner_sim_sv44_alpha44_corretto.png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Modello errato contro modello corretto</a:t>
            </a:r>
          </a:p>
        </p:txBody>
      </p:sp>
      <p:pic>
        <p:nvPicPr>
          <p:cNvPr id="3" name="Picture 2" descr="corner_sim_sv44_errato_vs_corret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6229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Stessi dati (alpha = 4.4)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alpha = 4.0 (arancio) contro alpha = 4.4 (blu)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41985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67588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La figura chiave di questa sezione.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L’unica variabile è l’assunzione sull’indice cromatico.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corner_sim_sv44_errato_vs_corretto.png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Dati reali contro la simulazione con alpha = 4.4</a:t>
            </a:r>
          </a:p>
        </p:txBody>
      </p:sp>
      <p:pic>
        <p:nvPicPr>
          <p:cNvPr id="3" name="Picture 2" descr="corner_reali_vs_sim_sv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9918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DR2low reali e simulazione con scattering alpha = 4.4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6 parametri, alpha = 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Indizio qualitativo su quale indice cromatico somiglia di più ai dati veri.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corner_reali_vs_sim_sv44.png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2E86AB"/>
                </a:solidFill>
                <a:latin typeface="Cambria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Analisi con alpha libero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8686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Sette parametri: lo scattering porta il proprio indice cromatico. Catene in corso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Sette parametri: alpha libero</a:t>
            </a:r>
          </a:p>
        </p:txBody>
      </p:sp>
      <p:pic>
        <p:nvPicPr>
          <p:cNvPr id="3" name="Picture 2" descr="corner_sim_sv44_alphaf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91972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Simulazione con scattering alpha = 4.4, senza GWB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7 parametri, indice cromatico libero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alpha viene recuperato a 4.68 [4.47, 4.90] contro il vero 4.4.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Catena parziale.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corner_sim_sv44_alphafree.png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Degenerazione tra alpha e ampiezza</a:t>
            </a:r>
          </a:p>
        </p:txBody>
      </p:sp>
      <p:pic>
        <p:nvPicPr>
          <p:cNvPr id="3" name="Picture 2" descr="corner_sim_sv44_alphafree_degenerazi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54301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Stessa catena, pannello alpha contro log10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7 parametri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41985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67588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La retta rossa è la degenerazione prevista, di pendenza -log10(1400/nu_eff).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I dati vincolano il prodotto A x (1400/nu_eff)^alpha.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corner_sim_sv44_alphafree_degenerazione.png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alpha fisso contro alpha libero</a:t>
            </a:r>
          </a:p>
        </p:txBody>
      </p:sp>
      <p:pic>
        <p:nvPicPr>
          <p:cNvPr id="3" name="Picture 2" descr="corner_sim_sv44_fixed_vs_alphaf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39918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Simulazione con scattering alpha = 4.4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alpha = 4.0 fisso (arancio) contro alpha libero (blu)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Il prezzo di non conoscere l’indice: la posterior dell’ampiezza si allarga di circa cinque volte.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corner_sim_sv44_fixed_vs_alphafree.png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GWB -14 su scattering alpha = 4.4, con alpha libero</a:t>
            </a:r>
          </a:p>
        </p:txBody>
      </p:sp>
      <p:pic>
        <p:nvPicPr>
          <p:cNvPr id="3" name="Picture 2" descr="corner_gwb_A140_sv44_alphaf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91972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Simulazione con GWB (gamma = 13/3) e scattering alpha = 4.4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7 parametri, nessun termine GWB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La configurazione più vicina al caso reale: GWB non modellato e indice ignoto.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alpha recuperato a 4.27 [4.05, 4.48].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corner_gwb_A140_sv44_alphafree.png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Degenerazione in presenza di GWB</a:t>
            </a:r>
          </a:p>
        </p:txBody>
      </p:sp>
      <p:pic>
        <p:nvPicPr>
          <p:cNvPr id="3" name="Picture 2" descr="corner_gwb_A140_sv44_alphafree_degenerazi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228263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Stessa catena, pannello alpha contro log10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95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7 parametri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41985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67588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La degenerazione resta quella prevista anche con il GWB nei dati.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corner_gwb_A140_sv44_alphafree_degenerazione.png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B263B"/>
                </a:solidFill>
                <a:latin typeface="Cambria"/>
              </a:rPr>
              <a:t>Effetto del solo GWB con alpha libero</a:t>
            </a:r>
          </a:p>
        </p:txBody>
      </p:sp>
      <p:pic>
        <p:nvPicPr>
          <p:cNvPr id="3" name="Picture 2" descr="corner_alphafree_senza_vs_gwb_A1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91972" cy="5532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DATI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627632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Senza GWB (blu) contro GWB -14, gamma = 13/3 (viola)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670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MODELLO DI ANALISI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926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B263B"/>
                </a:solidFill>
                <a:latin typeface="Calibri"/>
              </a:rPr>
              <a:t>Modello a 7 parametri in entrambi i casi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941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COSA GUARDARE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50208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Con alpha libero l’assorbimento è molto più marcato: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C6B7A"/>
                </a:solidFill>
                <a:latin typeface="Calibri"/>
              </a:rPr>
              <a:t>gamma del red noise passa da 0.20 a 1.50.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6400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A5B1"/>
                </a:solidFill>
                <a:latin typeface="Calibri"/>
              </a:rPr>
              <a:t>corner_alphafree_senza_vs_gwb_A140.png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